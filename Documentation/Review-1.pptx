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4"/>
  </p:notesMasterIdLst>
  <p:handoutMasterIdLst>
    <p:handoutMasterId r:id="rId15"/>
  </p:handoutMasterIdLst>
  <p:sldIdLst>
    <p:sldId id="258" r:id="rId3"/>
    <p:sldId id="377" r:id="rId4"/>
    <p:sldId id="391" r:id="rId5"/>
    <p:sldId id="392" r:id="rId6"/>
    <p:sldId id="393" r:id="rId7"/>
    <p:sldId id="395" r:id="rId8"/>
    <p:sldId id="396" r:id="rId9"/>
    <p:sldId id="398" r:id="rId10"/>
    <p:sldId id="397" r:id="rId11"/>
    <p:sldId id="374" r:id="rId12"/>
    <p:sldId id="33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5033" autoAdjust="0"/>
  </p:normalViewPr>
  <p:slideViewPr>
    <p:cSldViewPr snapToGrid="0" snapToObjects="1">
      <p:cViewPr>
        <p:scale>
          <a:sx n="75" d="100"/>
          <a:sy n="75" d="100"/>
        </p:scale>
        <p:origin x="614" y="125"/>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20-08-2026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20-08-2026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20-08-2026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20-08-2026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20-08-2026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20-08-2026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20-08-2026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20-08-2026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20-08-2026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20-08-2026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20-08-2026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20-08-2026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20-08-2026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20-08-2026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20-08-2026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20-08-2026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20-08-2026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899808" y="595401"/>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r>
              <a:rPr lang="en-US" b="1" dirty="0"/>
              <a:t>Online Code Judge</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p>
          <a:p>
            <a:pPr marL="0" indent="0" algn="ctr">
              <a:buNone/>
            </a:pPr>
            <a:r>
              <a:rPr lang="en-US" sz="2400" dirty="0">
                <a:solidFill>
                  <a:srgbClr val="00B050"/>
                </a:solidFill>
              </a:rPr>
              <a:t>Dr. Spandana</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91184531"/>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Harshit Sajjanapu</a:t>
                      </a:r>
                    </a:p>
                  </a:txBody>
                  <a:tcPr/>
                </a:tc>
                <a:tc>
                  <a:txBody>
                    <a:bodyPr/>
                    <a:lstStyle/>
                    <a:p>
                      <a:r>
                        <a:rPr lang="en-US" dirty="0"/>
                        <a:t>2520030187</a:t>
                      </a:r>
                    </a:p>
                  </a:txBody>
                  <a:tcPr/>
                </a:tc>
                <a:extLst>
                  <a:ext uri="{0D108BD9-81ED-4DB2-BD59-A6C34878D82A}">
                    <a16:rowId xmlns:a16="http://schemas.microsoft.com/office/drawing/2014/main" val="253518174"/>
                  </a:ext>
                </a:extLst>
              </a:tr>
              <a:tr h="370840">
                <a:tc>
                  <a:txBody>
                    <a:bodyPr/>
                    <a:lstStyle/>
                    <a:p>
                      <a:r>
                        <a:rPr lang="en-US" dirty="0" err="1"/>
                        <a:t>Shammruth</a:t>
                      </a:r>
                      <a:r>
                        <a:rPr lang="en-US" dirty="0"/>
                        <a:t> Bhuma</a:t>
                      </a:r>
                    </a:p>
                  </a:txBody>
                  <a:tcPr/>
                </a:tc>
                <a:tc>
                  <a:txBody>
                    <a:bodyPr/>
                    <a:lstStyle/>
                    <a:p>
                      <a:r>
                        <a:rPr lang="en-US" dirty="0"/>
                        <a:t>2520030191</a:t>
                      </a:r>
                    </a:p>
                  </a:txBody>
                  <a:tcPr/>
                </a:tc>
                <a:extLst>
                  <a:ext uri="{0D108BD9-81ED-4DB2-BD59-A6C34878D82A}">
                    <a16:rowId xmlns:a16="http://schemas.microsoft.com/office/drawing/2014/main" val="2413438055"/>
                  </a:ext>
                </a:extLst>
              </a:tr>
              <a:tr h="370840">
                <a:tc>
                  <a:txBody>
                    <a:bodyPr/>
                    <a:lstStyle/>
                    <a:p>
                      <a:r>
                        <a:rPr lang="en-US" dirty="0"/>
                        <a:t>Tanvi </a:t>
                      </a:r>
                      <a:r>
                        <a:rPr lang="en-US" dirty="0" err="1"/>
                        <a:t>Sannidhiraju</a:t>
                      </a:r>
                      <a:endParaRPr lang="en-US" dirty="0"/>
                    </a:p>
                  </a:txBody>
                  <a:tcPr/>
                </a:tc>
                <a:tc>
                  <a:txBody>
                    <a:bodyPr/>
                    <a:lstStyle/>
                    <a:p>
                      <a:r>
                        <a:rPr lang="en-US" dirty="0"/>
                        <a:t>2520030057</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900634873"/>
              </p:ext>
            </p:extLst>
          </p:nvPr>
        </p:nvGraphicFramePr>
        <p:xfrm>
          <a:off x="838199" y="1416193"/>
          <a:ext cx="10515600" cy="3577888"/>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Harshit Sajjanapu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Backend development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err="1"/>
                        <a:t>Shammruth</a:t>
                      </a:r>
                      <a:r>
                        <a:rPr lang="en-US" dirty="0"/>
                        <a:t> Bhuma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Frontend developer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Tanvi </a:t>
                      </a:r>
                      <a:r>
                        <a:rPr lang="en-US" dirty="0" err="1"/>
                        <a:t>Sannidhiraju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alpha val="31000"/>
                            </a:schemeClr>
                          </a:solidFill>
                        </a:rPr>
                        <a:t>Database developer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838200" y="1624729"/>
            <a:ext cx="10515600" cy="4761118"/>
          </a:xfrm>
        </p:spPr>
        <p:txBody>
          <a:bodyPr>
            <a:normAutofit lnSpcReduction="10000"/>
          </a:bodyPr>
          <a:lstStyle/>
          <a:p>
            <a:r>
              <a:rPr lang="en-IN" sz="2400" dirty="0"/>
              <a:t>When many students submit code simultaneously during an online test, running that code safely without crashing the system or risking server security is a major challenge. This project creates a secure Online Code Judge platform (similar to LeetCode) designed to host coding contests and automatically evaluate programs.</a:t>
            </a:r>
          </a:p>
          <a:p>
            <a:r>
              <a:rPr lang="en-IN" sz="2400" dirty="0"/>
              <a:t>Users write code directly in their browser using an interactive editor. When a student submits their code, a queue system organizes incoming requests so the platform remains fast and stable, even during peak traffic. To protect the system, submitted code runs inside an isolated, virtual "sandbox." This sandbox prevents harmful or infinite-loop code from affecting the main server while strictly enforcing time and memory limits for each solution.</a:t>
            </a:r>
          </a:p>
          <a:p>
            <a:r>
              <a:rPr lang="en-IN" sz="2400" dirty="0"/>
              <a:t>The platform automatically checks the code's output against hidden test cases to deliver instant results. Key features include a problem creation module for instructors, real-time contest leaderboards, and built-in plagiarism detection to ensure fair competition.</a:t>
            </a:r>
          </a:p>
          <a:p>
            <a:endParaRPr lang="en-US" sz="2400"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TextBox 6">
            <a:extLst>
              <a:ext uri="{FF2B5EF4-FFF2-40B4-BE49-F238E27FC236}">
                <a16:creationId xmlns:a16="http://schemas.microsoft.com/office/drawing/2014/main" id="{3B768D90-A05B-3B15-F363-00F3F772F713}"/>
              </a:ext>
            </a:extLst>
          </p:cNvPr>
          <p:cNvSpPr txBox="1"/>
          <p:nvPr/>
        </p:nvSpPr>
        <p:spPr>
          <a:xfrm>
            <a:off x="759542" y="2130693"/>
            <a:ext cx="10412362" cy="3785652"/>
          </a:xfrm>
          <a:prstGeom prst="rect">
            <a:avLst/>
          </a:prstGeom>
          <a:noFill/>
        </p:spPr>
        <p:txBody>
          <a:bodyPr wrap="square">
            <a:spAutoFit/>
          </a:bodyPr>
          <a:lstStyle/>
          <a:p>
            <a:pPr>
              <a:buNone/>
            </a:pPr>
            <a:r>
              <a:rPr lang="en-IN" sz="2000" dirty="0"/>
              <a:t>Our project is an </a:t>
            </a:r>
            <a:r>
              <a:rPr lang="en-IN" sz="2000" b="1" dirty="0"/>
              <a:t>Online Code Judge</a:t>
            </a:r>
            <a:r>
              <a:rPr lang="en-IN" sz="2000" dirty="0"/>
              <a:t>, a platform designed for students to write, submit, and test their programs online. It works similar to platforms like </a:t>
            </a:r>
            <a:r>
              <a:rPr lang="en-IN" sz="2000" b="1" dirty="0"/>
              <a:t>LeetCode</a:t>
            </a:r>
            <a:r>
              <a:rPr lang="en-IN" sz="2000" dirty="0"/>
              <a:t>, where users can solve coding problems and receive results automatically.</a:t>
            </a:r>
          </a:p>
          <a:p>
            <a:pPr>
              <a:buNone/>
            </a:pPr>
            <a:r>
              <a:rPr lang="en-IN" sz="2000" dirty="0"/>
              <a:t>The main purpose of our project is to make </a:t>
            </a:r>
            <a:r>
              <a:rPr lang="en-IN" sz="2000" b="1" dirty="0"/>
              <a:t>code evaluation fast, secure, and reliable</a:t>
            </a:r>
            <a:r>
              <a:rPr lang="en-IN" sz="2000" dirty="0"/>
              <a:t>, especially when many students submit their code at the same time. A </a:t>
            </a:r>
            <a:r>
              <a:rPr lang="en-IN" sz="2000" b="1" dirty="0"/>
              <a:t>queue system</a:t>
            </a:r>
            <a:r>
              <a:rPr lang="en-IN" sz="2000" dirty="0"/>
              <a:t> manages multiple submissions and prevents the server from getting overloaded.</a:t>
            </a:r>
          </a:p>
          <a:p>
            <a:pPr>
              <a:buNone/>
            </a:pPr>
            <a:r>
              <a:rPr lang="en-IN" sz="2000" dirty="0"/>
              <a:t>For security, the submitted programs are executed inside a </a:t>
            </a:r>
            <a:r>
              <a:rPr lang="en-IN" sz="2000" b="1" dirty="0"/>
              <a:t>Docker sandbox</a:t>
            </a:r>
            <a:r>
              <a:rPr lang="en-IN" sz="2000" dirty="0"/>
              <a:t>, which isolates the code from the main system and applies time and memory limits. The system then compares the program's output with </a:t>
            </a:r>
            <a:r>
              <a:rPr lang="en-IN" sz="2000" b="1" dirty="0"/>
              <a:t>hidden test cases</a:t>
            </a:r>
            <a:r>
              <a:rPr lang="en-IN" sz="2000" dirty="0"/>
              <a:t> and provides instant results.</a:t>
            </a:r>
          </a:p>
          <a:p>
            <a:pPr>
              <a:buNone/>
            </a:pPr>
            <a:r>
              <a:rPr lang="en-IN" sz="2000" dirty="0"/>
              <a:t>Our platform also includes features such as </a:t>
            </a:r>
            <a:r>
              <a:rPr lang="en-IN" sz="2000" b="1" dirty="0"/>
              <a:t>coding contests, real-time leaderboards, problem creation, and plagiarism detection</a:t>
            </a:r>
            <a:r>
              <a:rPr lang="en-IN" sz="2000" dirty="0"/>
              <a:t>. Overall, the project provides a </a:t>
            </a:r>
            <a:r>
              <a:rPr lang="en-IN" sz="2000" b="1" dirty="0"/>
              <a:t>complete and secure environment for practicing coding and conducting programming contests</a:t>
            </a:r>
            <a:r>
              <a:rPr lang="en-IN" sz="2000" dirty="0"/>
              <a:t>.</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838200" y="1717009"/>
            <a:ext cx="10321412" cy="4351338"/>
          </a:xfrm>
        </p:spPr>
        <p:txBody>
          <a:bodyPr>
            <a:normAutofit fontScale="85000" lnSpcReduction="20000"/>
          </a:bodyPr>
          <a:lstStyle/>
          <a:p>
            <a:r>
              <a:rPr lang="en-IN" dirty="0"/>
              <a:t>In the existing system, coding platforms allow students to </a:t>
            </a:r>
            <a:r>
              <a:rPr lang="en-IN" b="1" dirty="0"/>
              <a:t>write and submit programs online</a:t>
            </a:r>
            <a:r>
              <a:rPr lang="en-IN" dirty="0"/>
              <a:t> and receive results based on predefined test cases. These platforms provide basic features such as </a:t>
            </a:r>
            <a:r>
              <a:rPr lang="en-IN" b="1" dirty="0"/>
              <a:t>problem solving, code submission, and automatic evaluation</a:t>
            </a:r>
            <a:r>
              <a:rPr lang="en-IN" dirty="0"/>
              <a:t>.</a:t>
            </a:r>
          </a:p>
          <a:p>
            <a:r>
              <a:rPr lang="en-IN" dirty="0"/>
              <a:t>However, when a large number of students submit code at the same time, the system can face </a:t>
            </a:r>
            <a:r>
              <a:rPr lang="en-IN" b="1" dirty="0"/>
              <a:t>high traffic and performance issues</a:t>
            </a:r>
            <a:r>
              <a:rPr lang="en-IN" dirty="0"/>
              <a:t>. Managing multiple submissions efficiently and running untrusted code safely can also be challenging.</a:t>
            </a:r>
          </a:p>
          <a:p>
            <a:r>
              <a:rPr lang="en-IN" dirty="0"/>
              <a:t>Traditional systems may not provide sufficient </a:t>
            </a:r>
            <a:r>
              <a:rPr lang="en-IN" b="1" dirty="0"/>
              <a:t>isolation, resource management, and security</a:t>
            </a:r>
            <a:r>
              <a:rPr lang="en-IN" dirty="0"/>
              <a:t> for every submitted program. Features such as </a:t>
            </a:r>
            <a:r>
              <a:rPr lang="en-IN" b="1" dirty="0"/>
              <a:t>real-time contest management, leaderboards, and plagiarism detection</a:t>
            </a:r>
            <a:r>
              <a:rPr lang="en-IN" dirty="0"/>
              <a:t> may also be limited or handled separately.</a:t>
            </a:r>
          </a:p>
          <a:p>
            <a:r>
              <a:rPr lang="en-IN" dirty="0"/>
              <a:t>Therefore, there is a need for a more </a:t>
            </a:r>
            <a:r>
              <a:rPr lang="en-IN" b="1" dirty="0"/>
              <a:t>secure, scalable, and efficient online code evaluation system</a:t>
            </a:r>
            <a:r>
              <a:rPr lang="en-IN" dirty="0"/>
              <a:t> that can handle multiple submissions while protecting the server and providing quick results.</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lstStyle/>
          <a:p>
            <a:pPr lvl="0"/>
            <a:r>
              <a:rPr lang="en-IN" dirty="0"/>
              <a:t>Develop a </a:t>
            </a:r>
            <a:r>
              <a:rPr lang="en-IN" b="1" dirty="0"/>
              <a:t>secure Online Code Judge platform</a:t>
            </a:r>
            <a:r>
              <a:rPr lang="en-IN" dirty="0"/>
              <a:t>. </a:t>
            </a:r>
          </a:p>
          <a:p>
            <a:pPr lvl="0"/>
            <a:r>
              <a:rPr lang="en-IN" dirty="0"/>
              <a:t>Use </a:t>
            </a:r>
            <a:r>
              <a:rPr lang="en-IN" b="1" dirty="0"/>
              <a:t>Redis Queue</a:t>
            </a:r>
            <a:r>
              <a:rPr lang="en-IN" dirty="0"/>
              <a:t> to manage multiple submissions. </a:t>
            </a:r>
          </a:p>
          <a:p>
            <a:pPr lvl="0"/>
            <a:r>
              <a:rPr lang="en-IN" dirty="0"/>
              <a:t>Use </a:t>
            </a:r>
            <a:r>
              <a:rPr lang="en-IN" b="1" dirty="0"/>
              <a:t>Docker Sandbox</a:t>
            </a:r>
            <a:r>
              <a:rPr lang="en-IN" dirty="0"/>
              <a:t> to isolate and safely execute code. </a:t>
            </a:r>
          </a:p>
          <a:p>
            <a:pPr lvl="0"/>
            <a:r>
              <a:rPr lang="en-IN" dirty="0"/>
              <a:t>Apply </a:t>
            </a:r>
            <a:r>
              <a:rPr lang="en-IN" b="1" dirty="0"/>
              <a:t>time and memory limits</a:t>
            </a:r>
            <a:r>
              <a:rPr lang="en-IN" dirty="0"/>
              <a:t> to each submission. </a:t>
            </a:r>
          </a:p>
          <a:p>
            <a:pPr lvl="0"/>
            <a:r>
              <a:rPr lang="en-IN" dirty="0"/>
              <a:t>Compare outputs with </a:t>
            </a:r>
            <a:r>
              <a:rPr lang="en-IN" b="1" dirty="0"/>
              <a:t>hidden test cases</a:t>
            </a:r>
            <a:r>
              <a:rPr lang="en-IN" dirty="0"/>
              <a:t>. </a:t>
            </a:r>
          </a:p>
          <a:p>
            <a:pPr lvl="0"/>
            <a:r>
              <a:rPr lang="en-IN" dirty="0"/>
              <a:t>Provide </a:t>
            </a:r>
            <a:r>
              <a:rPr lang="en-IN" b="1" dirty="0"/>
              <a:t>contests, leaderboards, problem management, and plagiarism detection</a:t>
            </a:r>
            <a:r>
              <a:rPr lang="en-IN" dirty="0"/>
              <a:t>.</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lstStyle/>
          <a:p>
            <a:pPr lvl="0"/>
            <a:r>
              <a:rPr lang="en-IN" dirty="0"/>
              <a:t>To create a </a:t>
            </a:r>
            <a:r>
              <a:rPr lang="en-IN" b="1" dirty="0"/>
              <a:t>secure online coding platform</a:t>
            </a:r>
            <a:r>
              <a:rPr lang="en-IN" dirty="0"/>
              <a:t>. </a:t>
            </a:r>
          </a:p>
          <a:p>
            <a:pPr lvl="0"/>
            <a:r>
              <a:rPr lang="en-IN" dirty="0"/>
              <a:t>To automatically </a:t>
            </a:r>
            <a:r>
              <a:rPr lang="en-IN" b="1" dirty="0"/>
              <a:t>compile and evaluate programs</a:t>
            </a:r>
            <a:r>
              <a:rPr lang="en-IN" dirty="0"/>
              <a:t>. </a:t>
            </a:r>
          </a:p>
          <a:p>
            <a:pPr lvl="0"/>
            <a:r>
              <a:rPr lang="en-IN" dirty="0"/>
              <a:t>To safely execute untrusted code using </a:t>
            </a:r>
            <a:r>
              <a:rPr lang="en-IN" b="1" dirty="0"/>
              <a:t>Docker</a:t>
            </a:r>
            <a:r>
              <a:rPr lang="en-IN" dirty="0"/>
              <a:t>. </a:t>
            </a:r>
          </a:p>
          <a:p>
            <a:pPr lvl="0"/>
            <a:r>
              <a:rPr lang="en-IN" dirty="0"/>
              <a:t>To handle multiple submissions using a </a:t>
            </a:r>
            <a:r>
              <a:rPr lang="en-IN" b="1" dirty="0"/>
              <a:t>queue system</a:t>
            </a:r>
            <a:r>
              <a:rPr lang="en-IN" dirty="0"/>
              <a:t>. </a:t>
            </a:r>
          </a:p>
          <a:p>
            <a:pPr lvl="0"/>
            <a:r>
              <a:rPr lang="en-IN" dirty="0"/>
              <a:t>To provide </a:t>
            </a:r>
            <a:r>
              <a:rPr lang="en-IN" b="1" dirty="0"/>
              <a:t>fast and accurate evaluation results</a:t>
            </a:r>
            <a:r>
              <a:rPr lang="en-IN" dirty="0"/>
              <a:t>. </a:t>
            </a:r>
          </a:p>
          <a:p>
            <a:pPr lvl="0"/>
            <a:r>
              <a:rPr lang="en-IN" dirty="0"/>
              <a:t>To support </a:t>
            </a:r>
            <a:r>
              <a:rPr lang="en-IN" b="1" dirty="0"/>
              <a:t>coding contests and leaderboards</a:t>
            </a:r>
            <a:r>
              <a:rPr lang="en-IN" dirty="0"/>
              <a:t>. </a:t>
            </a:r>
          </a:p>
          <a:p>
            <a:pPr lvl="0"/>
            <a:r>
              <a:rPr lang="en-IN" dirty="0"/>
              <a:t>To detect </a:t>
            </a:r>
            <a:r>
              <a:rPr lang="en-IN" b="1" dirty="0"/>
              <a:t>plagiarism between submissions</a:t>
            </a:r>
            <a:r>
              <a:rPr lang="en-IN" dirty="0"/>
              <a:t>.</a:t>
            </a:r>
          </a:p>
          <a:p>
            <a:endParaRPr lang="en-US" dirty="0"/>
          </a:p>
        </p:txBody>
      </p:sp>
    </p:spTree>
    <p:extLst>
      <p:ext uri="{BB962C8B-B14F-4D97-AF65-F5344CB8AC3E}">
        <p14:creationId xmlns:p14="http://schemas.microsoft.com/office/powerpoint/2010/main" val="2402079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a:xfrm>
            <a:off x="572729" y="192990"/>
            <a:ext cx="10515600" cy="1325563"/>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7" name="Content Placeholder 6">
            <a:extLst>
              <a:ext uri="{FF2B5EF4-FFF2-40B4-BE49-F238E27FC236}">
                <a16:creationId xmlns:a16="http://schemas.microsoft.com/office/drawing/2014/main" id="{B5DF4A03-D99B-71E1-508B-DC833C8ECB41}"/>
              </a:ext>
            </a:extLst>
          </p:cNvPr>
          <p:cNvSpPr>
            <a:spLocks noGrp="1"/>
          </p:cNvSpPr>
          <p:nvPr>
            <p:ph idx="1"/>
          </p:nvPr>
        </p:nvSpPr>
        <p:spPr>
          <a:xfrm>
            <a:off x="137652" y="1390368"/>
            <a:ext cx="6408174" cy="2591082"/>
          </a:xfrm>
        </p:spPr>
        <p:txBody>
          <a:bodyPr>
            <a:normAutofit/>
          </a:bodyPr>
          <a:lstStyle/>
          <a:p>
            <a:r>
              <a:rPr lang="en-IN" sz="1800" b="1" dirty="0"/>
              <a:t>1. User &amp; Code Editor Module</a:t>
            </a:r>
          </a:p>
          <a:p>
            <a:pPr lvl="0"/>
            <a:r>
              <a:rPr lang="en-IN" sz="1800" dirty="0"/>
              <a:t>User writes code using </a:t>
            </a:r>
            <a:r>
              <a:rPr lang="en-IN" sz="1800" b="1" dirty="0"/>
              <a:t>Monaco Editor</a:t>
            </a:r>
            <a:r>
              <a:rPr lang="en-IN" sz="1800" dirty="0"/>
              <a:t>. </a:t>
            </a:r>
          </a:p>
          <a:p>
            <a:pPr lvl="0"/>
            <a:r>
              <a:rPr lang="en-IN" sz="1800" dirty="0"/>
              <a:t>Code can be submitted directly from the browser.</a:t>
            </a:r>
          </a:p>
          <a:p>
            <a:pPr marL="0" indent="0">
              <a:buNone/>
            </a:pPr>
            <a:endParaRPr lang="en-IN" sz="1800" dirty="0"/>
          </a:p>
          <a:p>
            <a:r>
              <a:rPr lang="en-IN" sz="1800" b="1" dirty="0"/>
              <a:t>2. Problem Management Module</a:t>
            </a:r>
          </a:p>
          <a:p>
            <a:pPr lvl="0"/>
            <a:r>
              <a:rPr lang="en-IN" sz="1800" dirty="0"/>
              <a:t>Instructors can </a:t>
            </a:r>
            <a:r>
              <a:rPr lang="en-IN" sz="1800" b="1" dirty="0"/>
              <a:t>create and manage coding problems</a:t>
            </a:r>
            <a:r>
              <a:rPr lang="en-IN" sz="1800" dirty="0"/>
              <a:t>. </a:t>
            </a:r>
          </a:p>
          <a:p>
            <a:pPr lvl="0"/>
            <a:r>
              <a:rPr lang="en-IN" sz="1800" dirty="0"/>
              <a:t>Test cases can be added for evaluation.</a:t>
            </a:r>
          </a:p>
          <a:p>
            <a:pPr marL="0" indent="0">
              <a:buNone/>
            </a:pPr>
            <a:endParaRPr lang="en-IN" sz="1800" dirty="0"/>
          </a:p>
        </p:txBody>
      </p:sp>
      <p:sp>
        <p:nvSpPr>
          <p:cNvPr id="9" name="TextBox 8">
            <a:extLst>
              <a:ext uri="{FF2B5EF4-FFF2-40B4-BE49-F238E27FC236}">
                <a16:creationId xmlns:a16="http://schemas.microsoft.com/office/drawing/2014/main" id="{3AD6BF02-48E2-AF0A-5242-B692F5AC6723}"/>
              </a:ext>
            </a:extLst>
          </p:cNvPr>
          <p:cNvSpPr txBox="1"/>
          <p:nvPr/>
        </p:nvSpPr>
        <p:spPr>
          <a:xfrm>
            <a:off x="6096000" y="1235216"/>
            <a:ext cx="5715000" cy="1200329"/>
          </a:xfrm>
          <a:prstGeom prst="rect">
            <a:avLst/>
          </a:prstGeom>
          <a:noFill/>
        </p:spPr>
        <p:txBody>
          <a:bodyPr wrap="square">
            <a:spAutoFit/>
          </a:bodyPr>
          <a:lstStyle/>
          <a:p>
            <a:pPr>
              <a:buNone/>
            </a:pPr>
            <a:r>
              <a:rPr lang="en-IN" b="1" dirty="0"/>
              <a:t>3. Submission &amp; Queue Module</a:t>
            </a:r>
          </a:p>
          <a:p>
            <a:pPr marL="342900" lvl="0" indent="-342900">
              <a:buFont typeface="Arial" panose="020B0604020202020204" pitchFamily="34" charset="0"/>
              <a:buChar char="•"/>
            </a:pPr>
            <a:r>
              <a:rPr lang="en-IN" dirty="0"/>
              <a:t>Receives code submissions. </a:t>
            </a:r>
          </a:p>
          <a:p>
            <a:pPr marL="342900" lvl="0" indent="-342900">
              <a:buFont typeface="Arial" panose="020B0604020202020204" pitchFamily="34" charset="0"/>
              <a:buChar char="•"/>
            </a:pPr>
            <a:r>
              <a:rPr lang="en-IN" b="1" dirty="0"/>
              <a:t>Redis Queue</a:t>
            </a:r>
            <a:r>
              <a:rPr lang="en-IN" dirty="0"/>
              <a:t> manages submissions in an orderly manner.</a:t>
            </a:r>
          </a:p>
        </p:txBody>
      </p:sp>
      <p:sp>
        <p:nvSpPr>
          <p:cNvPr id="11" name="TextBox 10">
            <a:extLst>
              <a:ext uri="{FF2B5EF4-FFF2-40B4-BE49-F238E27FC236}">
                <a16:creationId xmlns:a16="http://schemas.microsoft.com/office/drawing/2014/main" id="{6B8CF5C3-EC74-8627-7928-D5FC28528B54}"/>
              </a:ext>
            </a:extLst>
          </p:cNvPr>
          <p:cNvSpPr txBox="1"/>
          <p:nvPr/>
        </p:nvSpPr>
        <p:spPr>
          <a:xfrm>
            <a:off x="6130413" y="2857666"/>
            <a:ext cx="6096000" cy="923330"/>
          </a:xfrm>
          <a:prstGeom prst="rect">
            <a:avLst/>
          </a:prstGeom>
          <a:noFill/>
        </p:spPr>
        <p:txBody>
          <a:bodyPr wrap="square">
            <a:spAutoFit/>
          </a:bodyPr>
          <a:lstStyle/>
          <a:p>
            <a:pPr>
              <a:buNone/>
            </a:pPr>
            <a:r>
              <a:rPr lang="en-IN" b="1"/>
              <a:t>4. Code Execution Module</a:t>
            </a:r>
          </a:p>
          <a:p>
            <a:pPr marL="342900" lvl="0" indent="-342900">
              <a:buFont typeface="Arial" panose="020B0604020202020204" pitchFamily="34" charset="0"/>
              <a:buChar char="•"/>
            </a:pPr>
            <a:r>
              <a:rPr lang="en-IN"/>
              <a:t>Runs code inside a </a:t>
            </a:r>
            <a:r>
              <a:rPr lang="en-IN" b="1"/>
              <a:t>Docker Sandbox</a:t>
            </a:r>
            <a:r>
              <a:rPr lang="en-IN"/>
              <a:t>. </a:t>
            </a:r>
          </a:p>
          <a:p>
            <a:pPr marL="342900" lvl="0" indent="-342900">
              <a:buFont typeface="Arial" panose="020B0604020202020204" pitchFamily="34" charset="0"/>
              <a:buChar char="•"/>
            </a:pPr>
            <a:r>
              <a:rPr lang="en-IN"/>
              <a:t>Applies time and memory limits.</a:t>
            </a:r>
            <a:endParaRPr lang="en-IN" dirty="0"/>
          </a:p>
        </p:txBody>
      </p:sp>
      <p:sp>
        <p:nvSpPr>
          <p:cNvPr id="13" name="TextBox 12">
            <a:extLst>
              <a:ext uri="{FF2B5EF4-FFF2-40B4-BE49-F238E27FC236}">
                <a16:creationId xmlns:a16="http://schemas.microsoft.com/office/drawing/2014/main" id="{BBBA5150-1389-47CB-2664-DA6A5C67EC99}"/>
              </a:ext>
            </a:extLst>
          </p:cNvPr>
          <p:cNvSpPr txBox="1"/>
          <p:nvPr/>
        </p:nvSpPr>
        <p:spPr>
          <a:xfrm>
            <a:off x="137652" y="4436759"/>
            <a:ext cx="6597445" cy="923330"/>
          </a:xfrm>
          <a:prstGeom prst="rect">
            <a:avLst/>
          </a:prstGeom>
          <a:noFill/>
        </p:spPr>
        <p:txBody>
          <a:bodyPr wrap="square">
            <a:spAutoFit/>
          </a:bodyPr>
          <a:lstStyle/>
          <a:p>
            <a:pPr>
              <a:buNone/>
            </a:pPr>
            <a:r>
              <a:rPr lang="en-IN" b="1" dirty="0"/>
              <a:t>5. Evaluation Module</a:t>
            </a:r>
          </a:p>
          <a:p>
            <a:pPr marL="342900" lvl="0" indent="-342900">
              <a:buFont typeface="Arial" panose="020B0604020202020204" pitchFamily="34" charset="0"/>
              <a:buChar char="•"/>
            </a:pPr>
            <a:r>
              <a:rPr lang="en-IN" dirty="0"/>
              <a:t>Compares program output with </a:t>
            </a:r>
            <a:r>
              <a:rPr lang="en-IN" b="1" dirty="0"/>
              <a:t>hidden test cases</a:t>
            </a:r>
            <a:r>
              <a:rPr lang="en-IN" dirty="0"/>
              <a:t>. </a:t>
            </a:r>
          </a:p>
          <a:p>
            <a:pPr marL="342900" lvl="0" indent="-342900">
              <a:buFont typeface="Arial" panose="020B0604020202020204" pitchFamily="34" charset="0"/>
              <a:buChar char="•"/>
            </a:pPr>
            <a:r>
              <a:rPr lang="en-IN" dirty="0"/>
              <a:t>Gives the result automatically.</a:t>
            </a:r>
          </a:p>
        </p:txBody>
      </p:sp>
      <p:sp>
        <p:nvSpPr>
          <p:cNvPr id="15" name="TextBox 14">
            <a:extLst>
              <a:ext uri="{FF2B5EF4-FFF2-40B4-BE49-F238E27FC236}">
                <a16:creationId xmlns:a16="http://schemas.microsoft.com/office/drawing/2014/main" id="{85E00B4C-A774-85E6-1F7D-C44EF098B775}"/>
              </a:ext>
            </a:extLst>
          </p:cNvPr>
          <p:cNvSpPr txBox="1"/>
          <p:nvPr/>
        </p:nvSpPr>
        <p:spPr>
          <a:xfrm>
            <a:off x="6341806" y="4475183"/>
            <a:ext cx="6096000" cy="923330"/>
          </a:xfrm>
          <a:prstGeom prst="rect">
            <a:avLst/>
          </a:prstGeom>
          <a:noFill/>
        </p:spPr>
        <p:txBody>
          <a:bodyPr wrap="square">
            <a:spAutoFit/>
          </a:bodyPr>
          <a:lstStyle/>
          <a:p>
            <a:pPr>
              <a:buNone/>
            </a:pPr>
            <a:r>
              <a:rPr lang="en-IN" b="1" dirty="0"/>
              <a:t>6. Contest &amp; Leaderboard Module</a:t>
            </a:r>
          </a:p>
          <a:p>
            <a:pPr marL="342900" lvl="0" indent="-342900">
              <a:buFont typeface="Arial" panose="020B0604020202020204" pitchFamily="34" charset="0"/>
              <a:buChar char="•"/>
            </a:pPr>
            <a:r>
              <a:rPr lang="en-IN" dirty="0"/>
              <a:t>Supports coding contests. </a:t>
            </a:r>
          </a:p>
          <a:p>
            <a:pPr marL="342900" lvl="0" indent="-342900">
              <a:buFont typeface="Arial" panose="020B0604020202020204" pitchFamily="34" charset="0"/>
              <a:buChar char="•"/>
            </a:pPr>
            <a:r>
              <a:rPr lang="en-IN" dirty="0"/>
              <a:t>Displays </a:t>
            </a:r>
            <a:r>
              <a:rPr lang="en-IN" b="1" dirty="0"/>
              <a:t>real-time rankings</a:t>
            </a:r>
            <a:r>
              <a:rPr lang="en-IN" dirty="0"/>
              <a:t>.</a:t>
            </a:r>
          </a:p>
        </p:txBody>
      </p:sp>
      <p:sp>
        <p:nvSpPr>
          <p:cNvPr id="17" name="TextBox 16">
            <a:extLst>
              <a:ext uri="{FF2B5EF4-FFF2-40B4-BE49-F238E27FC236}">
                <a16:creationId xmlns:a16="http://schemas.microsoft.com/office/drawing/2014/main" id="{C42A289B-4E26-FD17-E8CC-4228A98F524D}"/>
              </a:ext>
            </a:extLst>
          </p:cNvPr>
          <p:cNvSpPr txBox="1"/>
          <p:nvPr/>
        </p:nvSpPr>
        <p:spPr>
          <a:xfrm>
            <a:off x="3436375" y="5631035"/>
            <a:ext cx="6218902" cy="923330"/>
          </a:xfrm>
          <a:prstGeom prst="rect">
            <a:avLst/>
          </a:prstGeom>
          <a:noFill/>
        </p:spPr>
        <p:txBody>
          <a:bodyPr wrap="square">
            <a:spAutoFit/>
          </a:bodyPr>
          <a:lstStyle/>
          <a:p>
            <a:pPr>
              <a:buNone/>
            </a:pPr>
            <a:r>
              <a:rPr lang="en-IN" b="1" dirty="0"/>
              <a:t>7. Plagiarism Detection Module</a:t>
            </a:r>
          </a:p>
          <a:p>
            <a:pPr marL="342900" lvl="0" indent="-342900">
              <a:buFont typeface="Arial" panose="020B0604020202020204" pitchFamily="34" charset="0"/>
              <a:buChar char="•"/>
            </a:pPr>
            <a:r>
              <a:rPr lang="en-IN" dirty="0"/>
              <a:t>Compares submitted programs. </a:t>
            </a:r>
          </a:p>
          <a:p>
            <a:pPr marL="342900" lvl="0" indent="-342900">
              <a:buFont typeface="Arial" panose="020B0604020202020204" pitchFamily="34" charset="0"/>
              <a:buChar char="•"/>
            </a:pPr>
            <a:r>
              <a:rPr lang="en-IN" dirty="0"/>
              <a:t>Helps identify </a:t>
            </a:r>
            <a:r>
              <a:rPr lang="en-IN" b="1" dirty="0"/>
              <a:t>similar or copied code</a:t>
            </a:r>
            <a:r>
              <a:rPr lang="en-IN" dirty="0"/>
              <a:t>.</a:t>
            </a:r>
          </a:p>
        </p:txBody>
      </p:sp>
    </p:spTree>
    <p:extLst>
      <p:ext uri="{BB962C8B-B14F-4D97-AF65-F5344CB8AC3E}">
        <p14:creationId xmlns:p14="http://schemas.microsoft.com/office/powerpoint/2010/main" val="106307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9" name="TextBox 8">
            <a:extLst>
              <a:ext uri="{FF2B5EF4-FFF2-40B4-BE49-F238E27FC236}">
                <a16:creationId xmlns:a16="http://schemas.microsoft.com/office/drawing/2014/main" id="{BB2047F6-9363-4D97-CF3B-F62A9B064971}"/>
              </a:ext>
            </a:extLst>
          </p:cNvPr>
          <p:cNvSpPr txBox="1"/>
          <p:nvPr/>
        </p:nvSpPr>
        <p:spPr>
          <a:xfrm>
            <a:off x="838200" y="2140466"/>
            <a:ext cx="6096000" cy="2585323"/>
          </a:xfrm>
          <a:prstGeom prst="rect">
            <a:avLst/>
          </a:prstGeom>
          <a:noFill/>
        </p:spPr>
        <p:txBody>
          <a:bodyPr wrap="square">
            <a:spAutoFit/>
          </a:bodyPr>
          <a:lstStyle/>
          <a:p>
            <a:pPr>
              <a:buNone/>
            </a:pPr>
            <a:r>
              <a:rPr lang="en-IN" b="1" dirty="0"/>
              <a:t>Frontend</a:t>
            </a:r>
          </a:p>
          <a:p>
            <a:pPr marL="342900" lvl="0" indent="-342900">
              <a:buFont typeface="Arial" panose="020B0604020202020204" pitchFamily="34" charset="0"/>
              <a:buChar char="•"/>
            </a:pPr>
            <a:r>
              <a:rPr lang="en-IN" b="1" dirty="0"/>
              <a:t>React.js</a:t>
            </a:r>
            <a:r>
              <a:rPr lang="en-IN" dirty="0"/>
              <a:t> </a:t>
            </a:r>
          </a:p>
          <a:p>
            <a:pPr marL="342900" lvl="0" indent="-342900">
              <a:buFont typeface="Arial" panose="020B0604020202020204" pitchFamily="34" charset="0"/>
              <a:buChar char="•"/>
            </a:pPr>
            <a:r>
              <a:rPr lang="en-IN" b="1" dirty="0"/>
              <a:t>Monaco Editor</a:t>
            </a:r>
            <a:r>
              <a:rPr lang="en-IN" dirty="0"/>
              <a:t> </a:t>
            </a:r>
          </a:p>
          <a:p>
            <a:pPr marL="342900" lvl="0" indent="-342900">
              <a:buFont typeface="Arial" panose="020B0604020202020204" pitchFamily="34" charset="0"/>
              <a:buChar char="•"/>
            </a:pPr>
            <a:r>
              <a:rPr lang="en-IN" dirty="0"/>
              <a:t>HTML5 </a:t>
            </a:r>
          </a:p>
          <a:p>
            <a:pPr marL="342900" lvl="0" indent="-342900">
              <a:buFont typeface="Arial" panose="020B0604020202020204" pitchFamily="34" charset="0"/>
              <a:buChar char="•"/>
            </a:pPr>
            <a:r>
              <a:rPr lang="en-IN" dirty="0"/>
              <a:t>CSS3 </a:t>
            </a:r>
          </a:p>
          <a:p>
            <a:pPr lvl="0"/>
            <a:endParaRPr lang="en-IN" dirty="0"/>
          </a:p>
          <a:p>
            <a:pPr>
              <a:buNone/>
            </a:pPr>
            <a:r>
              <a:rPr lang="en-IN" b="1" dirty="0"/>
              <a:t>Backend</a:t>
            </a:r>
          </a:p>
          <a:p>
            <a:pPr marL="342900" lvl="0" indent="-342900">
              <a:buFont typeface="Arial" panose="020B0604020202020204" pitchFamily="34" charset="0"/>
              <a:buChar char="•"/>
            </a:pPr>
            <a:r>
              <a:rPr lang="en-IN" b="1" dirty="0"/>
              <a:t>Node.js</a:t>
            </a:r>
            <a:r>
              <a:rPr lang="en-IN" dirty="0"/>
              <a:t> </a:t>
            </a:r>
          </a:p>
          <a:p>
            <a:pPr marL="342900" lvl="0" indent="-342900">
              <a:buFont typeface="Arial" panose="020B0604020202020204" pitchFamily="34" charset="0"/>
              <a:buChar char="•"/>
            </a:pPr>
            <a:r>
              <a:rPr lang="en-IN" b="1" dirty="0"/>
              <a:t>Express.js</a:t>
            </a:r>
            <a:endParaRPr lang="en-IN" dirty="0"/>
          </a:p>
        </p:txBody>
      </p:sp>
      <p:sp>
        <p:nvSpPr>
          <p:cNvPr id="11" name="TextBox 10">
            <a:extLst>
              <a:ext uri="{FF2B5EF4-FFF2-40B4-BE49-F238E27FC236}">
                <a16:creationId xmlns:a16="http://schemas.microsoft.com/office/drawing/2014/main" id="{4351DC88-3F1A-8916-6C65-B6E5CB821134}"/>
              </a:ext>
            </a:extLst>
          </p:cNvPr>
          <p:cNvSpPr txBox="1"/>
          <p:nvPr/>
        </p:nvSpPr>
        <p:spPr>
          <a:xfrm>
            <a:off x="4485641" y="2136338"/>
            <a:ext cx="6096000" cy="2585323"/>
          </a:xfrm>
          <a:prstGeom prst="rect">
            <a:avLst/>
          </a:prstGeom>
          <a:noFill/>
        </p:spPr>
        <p:txBody>
          <a:bodyPr wrap="square">
            <a:spAutoFit/>
          </a:bodyPr>
          <a:lstStyle/>
          <a:p>
            <a:pPr>
              <a:buNone/>
            </a:pPr>
            <a:r>
              <a:rPr lang="en-IN" b="1" dirty="0"/>
              <a:t>Queue</a:t>
            </a:r>
          </a:p>
          <a:p>
            <a:pPr marL="342900" lvl="0" indent="-342900">
              <a:buFont typeface="Arial" panose="020B0604020202020204" pitchFamily="34" charset="0"/>
              <a:buChar char="•"/>
            </a:pPr>
            <a:r>
              <a:rPr lang="en-IN" b="1" dirty="0"/>
              <a:t>Redis</a:t>
            </a:r>
            <a:r>
              <a:rPr lang="en-IN" dirty="0"/>
              <a:t> </a:t>
            </a:r>
          </a:p>
          <a:p>
            <a:pPr marL="342900" lvl="0" indent="-342900">
              <a:buFont typeface="Arial" panose="020B0604020202020204" pitchFamily="34" charset="0"/>
              <a:buChar char="•"/>
            </a:pPr>
            <a:r>
              <a:rPr lang="en-IN" dirty="0" err="1"/>
              <a:t>BullMQ</a:t>
            </a:r>
            <a:r>
              <a:rPr lang="en-IN" dirty="0"/>
              <a:t> / Redis Queue</a:t>
            </a:r>
          </a:p>
          <a:p>
            <a:pPr lvl="0"/>
            <a:r>
              <a:rPr lang="en-IN" dirty="0"/>
              <a:t> </a:t>
            </a:r>
          </a:p>
          <a:p>
            <a:pPr lvl="0"/>
            <a:endParaRPr lang="en-IN" dirty="0"/>
          </a:p>
          <a:p>
            <a:pPr lvl="0"/>
            <a:endParaRPr lang="en-IN" dirty="0"/>
          </a:p>
          <a:p>
            <a:pPr>
              <a:buNone/>
            </a:pPr>
            <a:r>
              <a:rPr lang="en-IN" b="1" dirty="0"/>
              <a:t>Code Execution</a:t>
            </a:r>
          </a:p>
          <a:p>
            <a:pPr marL="342900" lvl="0" indent="-342900">
              <a:buFont typeface="Arial" panose="020B0604020202020204" pitchFamily="34" charset="0"/>
              <a:buChar char="•"/>
            </a:pPr>
            <a:r>
              <a:rPr lang="en-IN" b="1" dirty="0"/>
              <a:t>Docker Engine</a:t>
            </a:r>
            <a:r>
              <a:rPr lang="en-IN" dirty="0"/>
              <a:t> </a:t>
            </a:r>
          </a:p>
          <a:p>
            <a:pPr marL="342900" lvl="0" indent="-342900">
              <a:buFont typeface="Arial" panose="020B0604020202020204" pitchFamily="34" charset="0"/>
              <a:buChar char="•"/>
            </a:pPr>
            <a:r>
              <a:rPr lang="en-IN" dirty="0"/>
              <a:t>Linux Containers</a:t>
            </a:r>
          </a:p>
        </p:txBody>
      </p:sp>
      <p:sp>
        <p:nvSpPr>
          <p:cNvPr id="13" name="TextBox 12">
            <a:extLst>
              <a:ext uri="{FF2B5EF4-FFF2-40B4-BE49-F238E27FC236}">
                <a16:creationId xmlns:a16="http://schemas.microsoft.com/office/drawing/2014/main" id="{EDE5CB2F-5405-EBE3-E9E2-CDA78DFFE65E}"/>
              </a:ext>
            </a:extLst>
          </p:cNvPr>
          <p:cNvSpPr txBox="1"/>
          <p:nvPr/>
        </p:nvSpPr>
        <p:spPr>
          <a:xfrm>
            <a:off x="7706360" y="2136338"/>
            <a:ext cx="6096000" cy="2585323"/>
          </a:xfrm>
          <a:prstGeom prst="rect">
            <a:avLst/>
          </a:prstGeom>
          <a:noFill/>
        </p:spPr>
        <p:txBody>
          <a:bodyPr wrap="square">
            <a:spAutoFit/>
          </a:bodyPr>
          <a:lstStyle/>
          <a:p>
            <a:pPr>
              <a:buNone/>
            </a:pPr>
            <a:r>
              <a:rPr lang="en-IN" b="1" dirty="0"/>
              <a:t>Database</a:t>
            </a:r>
          </a:p>
          <a:p>
            <a:pPr marL="342900" lvl="0" indent="-342900">
              <a:buFont typeface="Arial" panose="020B0604020202020204" pitchFamily="34" charset="0"/>
              <a:buChar char="•"/>
            </a:pPr>
            <a:r>
              <a:rPr lang="en-IN" b="1" dirty="0"/>
              <a:t>MongoDB</a:t>
            </a:r>
            <a:r>
              <a:rPr lang="en-IN" dirty="0"/>
              <a:t> </a:t>
            </a:r>
          </a:p>
          <a:p>
            <a:pPr marL="342900" lvl="0" indent="-342900">
              <a:buFont typeface="Arial" panose="020B0604020202020204" pitchFamily="34" charset="0"/>
              <a:buChar char="•"/>
            </a:pPr>
            <a:r>
              <a:rPr lang="en-IN" dirty="0"/>
              <a:t>Mongoose </a:t>
            </a:r>
          </a:p>
          <a:p>
            <a:pPr marL="342900" lvl="0" indent="-342900">
              <a:buFont typeface="Arial" panose="020B0604020202020204" pitchFamily="34" charset="0"/>
              <a:buChar char="•"/>
            </a:pPr>
            <a:endParaRPr lang="en-IN" dirty="0"/>
          </a:p>
          <a:p>
            <a:pPr lvl="0"/>
            <a:endParaRPr lang="en-IN" dirty="0"/>
          </a:p>
          <a:p>
            <a:pPr>
              <a:buNone/>
            </a:pPr>
            <a:r>
              <a:rPr lang="en-IN" b="1" dirty="0"/>
              <a:t>Tools</a:t>
            </a:r>
          </a:p>
          <a:p>
            <a:pPr marL="342900" lvl="0" indent="-342900">
              <a:buFont typeface="Arial" panose="020B0604020202020204" pitchFamily="34" charset="0"/>
              <a:buChar char="•"/>
            </a:pPr>
            <a:r>
              <a:rPr lang="en-IN" dirty="0"/>
              <a:t>Git </a:t>
            </a:r>
          </a:p>
          <a:p>
            <a:pPr marL="342900" lvl="0" indent="-342900">
              <a:buFont typeface="Arial" panose="020B0604020202020204" pitchFamily="34" charset="0"/>
              <a:buChar char="•"/>
            </a:pPr>
            <a:r>
              <a:rPr lang="en-IN" dirty="0"/>
              <a:t>Postman </a:t>
            </a:r>
          </a:p>
          <a:p>
            <a:pPr marL="342900" lvl="0" indent="-342900">
              <a:buFont typeface="Arial" panose="020B0604020202020204" pitchFamily="34" charset="0"/>
              <a:buChar char="•"/>
            </a:pPr>
            <a:r>
              <a:rPr lang="en-IN" dirty="0"/>
              <a:t>AST / Token-based Plagiarism Detection</a:t>
            </a:r>
          </a:p>
        </p:txBody>
      </p:sp>
    </p:spTree>
    <p:extLst>
      <p:ext uri="{BB962C8B-B14F-4D97-AF65-F5344CB8AC3E}">
        <p14:creationId xmlns:p14="http://schemas.microsoft.com/office/powerpoint/2010/main" val="1098968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10</a:t>
            </a:fld>
            <a:endParaRPr lang="en-US" dirty="0"/>
          </a:p>
        </p:txBody>
      </p:sp>
      <p:sp>
        <p:nvSpPr>
          <p:cNvPr id="4" name="TextBox 3">
            <a:extLst>
              <a:ext uri="{FF2B5EF4-FFF2-40B4-BE49-F238E27FC236}">
                <a16:creationId xmlns:a16="http://schemas.microsoft.com/office/drawing/2014/main" id="{E4316856-9EFE-82BF-36EB-07477C254905}"/>
              </a:ext>
            </a:extLst>
          </p:cNvPr>
          <p:cNvSpPr txBox="1"/>
          <p:nvPr/>
        </p:nvSpPr>
        <p:spPr>
          <a:xfrm>
            <a:off x="264160" y="1871117"/>
            <a:ext cx="5262880" cy="3785652"/>
          </a:xfrm>
          <a:prstGeom prst="rect">
            <a:avLst/>
          </a:prstGeom>
          <a:noFill/>
        </p:spPr>
        <p:txBody>
          <a:bodyPr wrap="square">
            <a:spAutoFit/>
          </a:bodyPr>
          <a:lstStyle/>
          <a:p>
            <a:pPr marL="342900" lvl="0" indent="-342900">
              <a:buFont typeface="Arial" panose="020B0604020202020204" pitchFamily="34" charset="0"/>
              <a:buChar char="•"/>
            </a:pPr>
            <a:r>
              <a:rPr lang="en-IN" sz="2400" dirty="0"/>
              <a:t>The project provides a </a:t>
            </a:r>
            <a:r>
              <a:rPr lang="en-IN" sz="2400" b="1" dirty="0"/>
              <a:t>secure and automated coding platform</a:t>
            </a:r>
            <a:r>
              <a:rPr lang="en-IN" sz="2400" dirty="0"/>
              <a:t>. </a:t>
            </a:r>
          </a:p>
          <a:p>
            <a:pPr marL="342900" lvl="0" indent="-342900">
              <a:buFont typeface="Arial" panose="020B0604020202020204" pitchFamily="34" charset="0"/>
              <a:buChar char="•"/>
            </a:pPr>
            <a:r>
              <a:rPr lang="en-IN" sz="2400" dirty="0"/>
              <a:t>It can handle multiple submissions using a </a:t>
            </a:r>
            <a:r>
              <a:rPr lang="en-IN" sz="2400" b="1" dirty="0"/>
              <a:t>queue system</a:t>
            </a:r>
            <a:r>
              <a:rPr lang="en-IN" sz="2400" dirty="0"/>
              <a:t>. </a:t>
            </a:r>
          </a:p>
          <a:p>
            <a:pPr marL="342900" lvl="0" indent="-342900">
              <a:buFont typeface="Arial" panose="020B0604020202020204" pitchFamily="34" charset="0"/>
              <a:buChar char="•"/>
            </a:pPr>
            <a:r>
              <a:rPr lang="en-IN" sz="2400" dirty="0"/>
              <a:t>Docker provides </a:t>
            </a:r>
            <a:r>
              <a:rPr lang="en-IN" sz="2400" b="1" dirty="0"/>
              <a:t>safe and isolated code execution</a:t>
            </a:r>
            <a:r>
              <a:rPr lang="en-IN" sz="2400" dirty="0"/>
              <a:t>. </a:t>
            </a:r>
          </a:p>
          <a:p>
            <a:pPr marL="342900" lvl="0" indent="-342900">
              <a:buFont typeface="Arial" panose="020B0604020202020204" pitchFamily="34" charset="0"/>
              <a:buChar char="•"/>
            </a:pPr>
            <a:r>
              <a:rPr lang="en-IN" sz="2400" dirty="0"/>
              <a:t>The system gives </a:t>
            </a:r>
            <a:r>
              <a:rPr lang="en-IN" sz="2400" b="1" dirty="0"/>
              <a:t>quick evaluation results</a:t>
            </a:r>
            <a:r>
              <a:rPr lang="en-IN" sz="2400" dirty="0"/>
              <a:t>. </a:t>
            </a:r>
          </a:p>
          <a:p>
            <a:pPr marL="342900" lvl="0" indent="-342900">
              <a:buFont typeface="Arial" panose="020B0604020202020204" pitchFamily="34" charset="0"/>
              <a:buChar char="•"/>
            </a:pPr>
            <a:r>
              <a:rPr lang="en-IN" sz="2400" dirty="0"/>
              <a:t>It can be used for </a:t>
            </a:r>
            <a:r>
              <a:rPr lang="en-IN" sz="2400" b="1" dirty="0"/>
              <a:t>coding practice, tests, and contests</a:t>
            </a:r>
            <a:r>
              <a:rPr lang="en-IN" sz="2400" dirty="0"/>
              <a:t>.</a:t>
            </a:r>
          </a:p>
        </p:txBody>
      </p:sp>
      <p:sp>
        <p:nvSpPr>
          <p:cNvPr id="6" name="TextBox 5">
            <a:extLst>
              <a:ext uri="{FF2B5EF4-FFF2-40B4-BE49-F238E27FC236}">
                <a16:creationId xmlns:a16="http://schemas.microsoft.com/office/drawing/2014/main" id="{80B2E427-4968-A6F6-EBDF-77AE7D311D33}"/>
              </a:ext>
            </a:extLst>
          </p:cNvPr>
          <p:cNvSpPr txBox="1"/>
          <p:nvPr/>
        </p:nvSpPr>
        <p:spPr>
          <a:xfrm>
            <a:off x="6130119" y="2060416"/>
            <a:ext cx="5670645" cy="3046988"/>
          </a:xfrm>
          <a:prstGeom prst="rect">
            <a:avLst/>
          </a:prstGeom>
          <a:noFill/>
        </p:spPr>
        <p:txBody>
          <a:bodyPr wrap="square">
            <a:spAutoFit/>
          </a:bodyPr>
          <a:lstStyle/>
          <a:p>
            <a:pPr marL="342900" lvl="0" indent="-342900">
              <a:buFont typeface="Arial" panose="020B0604020202020204" pitchFamily="34" charset="0"/>
              <a:buChar char="•"/>
            </a:pPr>
            <a:r>
              <a:rPr lang="en-IN" sz="2400" dirty="0"/>
              <a:t>Add support for </a:t>
            </a:r>
            <a:r>
              <a:rPr lang="en-IN" sz="2400" b="1" dirty="0"/>
              <a:t>more programming languages</a:t>
            </a:r>
            <a:r>
              <a:rPr lang="en-IN" sz="2400" dirty="0"/>
              <a:t>. </a:t>
            </a:r>
          </a:p>
          <a:p>
            <a:pPr marL="342900" lvl="0" indent="-342900">
              <a:buFont typeface="Arial" panose="020B0604020202020204" pitchFamily="34" charset="0"/>
              <a:buChar char="•"/>
            </a:pPr>
            <a:r>
              <a:rPr lang="en-IN" sz="2400" dirty="0"/>
              <a:t>Improve </a:t>
            </a:r>
            <a:r>
              <a:rPr lang="en-IN" sz="2400" b="1" dirty="0"/>
              <a:t>AI-based plagiarism detection</a:t>
            </a:r>
            <a:r>
              <a:rPr lang="en-IN" sz="2400" dirty="0"/>
              <a:t>. </a:t>
            </a:r>
          </a:p>
          <a:p>
            <a:pPr marL="342900" lvl="0" indent="-342900">
              <a:buFont typeface="Arial" panose="020B0604020202020204" pitchFamily="34" charset="0"/>
              <a:buChar char="•"/>
            </a:pPr>
            <a:r>
              <a:rPr lang="en-IN" sz="2400" dirty="0"/>
              <a:t>Add </a:t>
            </a:r>
            <a:r>
              <a:rPr lang="en-IN" sz="2400" b="1" dirty="0"/>
              <a:t>AI-based code suggestions and feedback</a:t>
            </a:r>
            <a:r>
              <a:rPr lang="en-IN" sz="2400" dirty="0"/>
              <a:t>. </a:t>
            </a:r>
          </a:p>
          <a:p>
            <a:pPr marL="342900" lvl="0" indent="-342900">
              <a:buFont typeface="Arial" panose="020B0604020202020204" pitchFamily="34" charset="0"/>
              <a:buChar char="•"/>
            </a:pPr>
            <a:r>
              <a:rPr lang="en-IN" sz="2400" dirty="0"/>
              <a:t>Support </a:t>
            </a:r>
            <a:r>
              <a:rPr lang="en-IN" sz="2400" b="1" dirty="0"/>
              <a:t>larger-scale coding contests</a:t>
            </a:r>
            <a:r>
              <a:rPr lang="en-IN" sz="2400" dirty="0"/>
              <a:t>. </a:t>
            </a:r>
          </a:p>
          <a:p>
            <a:pPr marL="342900" lvl="0" indent="-342900">
              <a:buFont typeface="Arial" panose="020B0604020202020204" pitchFamily="34" charset="0"/>
              <a:buChar char="•"/>
            </a:pPr>
            <a:r>
              <a:rPr lang="en-IN" sz="2400" dirty="0"/>
              <a:t>Improve performance for </a:t>
            </a:r>
            <a:r>
              <a:rPr lang="en-IN" sz="2400" b="1" dirty="0"/>
              <a:t>more simultaneous users</a:t>
            </a:r>
            <a:r>
              <a:rPr lang="en-IN" sz="2400" dirty="0"/>
              <a:t>.</a:t>
            </a:r>
          </a:p>
        </p:txBody>
      </p:sp>
    </p:spTree>
    <p:extLst>
      <p:ext uri="{BB962C8B-B14F-4D97-AF65-F5344CB8AC3E}">
        <p14:creationId xmlns:p14="http://schemas.microsoft.com/office/powerpoint/2010/main" val="1749009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8249</TotalTime>
  <Words>945</Words>
  <Application>Microsoft Office PowerPoint</Application>
  <PresentationFormat>Widescreen</PresentationFormat>
  <Paragraphs>149</Paragraphs>
  <Slides>11</Slides>
  <Notes>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11</vt:i4>
      </vt:variant>
    </vt:vector>
  </HeadingPairs>
  <TitlesOfParts>
    <vt:vector size="16" baseType="lpstr">
      <vt:lpstr>Arial</vt:lpstr>
      <vt:lpstr>Calibri</vt:lpstr>
      <vt:lpstr>Calibri Light</vt:lpstr>
      <vt:lpstr>Office Theme</vt:lpstr>
      <vt:lpstr>Custom Design</vt:lpstr>
      <vt:lpstr> 1st  REVIEW Online Code Judge </vt:lpstr>
      <vt:lpstr>GROUP NUMBER:1</vt:lpstr>
      <vt:lpstr>ABSTRACT</vt:lpstr>
      <vt:lpstr>INTRDOUCTION</vt:lpstr>
      <vt:lpstr>EXISTING SYSTEM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harshit.sajjanapu@outlook.com</cp:lastModifiedBy>
  <cp:revision>94</cp:revision>
  <dcterms:created xsi:type="dcterms:W3CDTF">2022-05-20T10:20:31Z</dcterms:created>
  <dcterms:modified xsi:type="dcterms:W3CDTF">2026-08-20T07:02:31Z</dcterms:modified>
</cp:coreProperties>
</file>